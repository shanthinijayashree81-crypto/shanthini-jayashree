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6" r:id="rId1"/>
  </p:sldMasterIdLst>
  <p:notesMasterIdLst>
    <p:notesMasterId r:id="rId16"/>
  </p:notesMasterIdLst>
  <p:sldIdLst>
    <p:sldId id="258" r:id="rId2"/>
    <p:sldId id="259" r:id="rId3"/>
    <p:sldId id="268" r:id="rId4"/>
    <p:sldId id="269" r:id="rId5"/>
    <p:sldId id="262" r:id="rId6"/>
    <p:sldId id="275" r:id="rId7"/>
    <p:sldId id="276" r:id="rId8"/>
    <p:sldId id="267" r:id="rId9"/>
    <p:sldId id="271" r:id="rId10"/>
    <p:sldId id="270" r:id="rId11"/>
    <p:sldId id="274" r:id="rId12"/>
    <p:sldId id="277" r:id="rId13"/>
    <p:sldId id="272" r:id="rId14"/>
    <p:sldId id="273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A753D06-5209-4621-B377-2AF881856F1C}" v="143" dt="2026-08-03T01:19:32.9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2" autoAdjust="0"/>
    <p:restoredTop sz="95706" autoAdjust="0"/>
  </p:normalViewPr>
  <p:slideViewPr>
    <p:cSldViewPr snapToGrid="0">
      <p:cViewPr varScale="1">
        <p:scale>
          <a:sx n="82" d="100"/>
          <a:sy n="82" d="100"/>
        </p:scale>
        <p:origin x="72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02T16:34:00.112"/>
    </inkml:context>
    <inkml:brush xml:id="br0">
      <inkml:brushProperty name="width" value="0.3" units="cm"/>
      <inkml:brushProperty name="height" value="0.6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02T16:34:00.968"/>
    </inkml:context>
    <inkml:brush xml:id="br0">
      <inkml:brushProperty name="width" value="0.3" units="cm"/>
      <inkml:brushProperty name="height" value="0.6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02T16:34:02.016"/>
    </inkml:context>
    <inkml:brush xml:id="br0">
      <inkml:brushProperty name="width" value="0.3" units="cm"/>
      <inkml:brushProperty name="height" value="0.6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02T16:34:03.017"/>
    </inkml:context>
    <inkml:brush xml:id="br0">
      <inkml:brushProperty name="width" value="0.3" units="cm"/>
      <inkml:brushProperty name="height" value="0.6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02T16:34:04.020"/>
    </inkml:context>
    <inkml:brush xml:id="br0">
      <inkml:brushProperty name="width" value="0.3" units="cm"/>
      <inkml:brushProperty name="height" value="0.6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02T16:34:06.145"/>
    </inkml:context>
    <inkml:brush xml:id="br0">
      <inkml:brushProperty name="width" value="0.3" units="cm"/>
      <inkml:brushProperty name="height" value="0.6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02T16:34:07.176"/>
    </inkml:context>
    <inkml:brush xml:id="br0">
      <inkml:brushProperty name="width" value="0.3" units="cm"/>
      <inkml:brushProperty name="height" value="0.6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02T16:34:08.256"/>
    </inkml:context>
    <inkml:brush xml:id="br0">
      <inkml:brushProperty name="width" value="0.3" units="cm"/>
      <inkml:brushProperty name="height" value="0.6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02T16:34:09.016"/>
    </inkml:context>
    <inkml:brush xml:id="br0">
      <inkml:brushProperty name="width" value="0.3" units="cm"/>
      <inkml:brushProperty name="height" value="0.6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02T16:34:09.953"/>
    </inkml:context>
    <inkml:brush xml:id="br0">
      <inkml:brushProperty name="width" value="0.3" units="cm"/>
      <inkml:brushProperty name="height" value="0.6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02T16:34:12.965"/>
    </inkml:context>
    <inkml:brush xml:id="br0">
      <inkml:brushProperty name="width" value="0.3" units="cm"/>
      <inkml:brushProperty name="height" value="0.6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02T16:34:14.981"/>
    </inkml:context>
    <inkml:brush xml:id="br0">
      <inkml:brushProperty name="width" value="0.3" units="cm"/>
      <inkml:brushProperty name="height" value="0.6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02T16:34:15.950"/>
    </inkml:context>
    <inkml:brush xml:id="br0">
      <inkml:brushProperty name="width" value="0.3" units="cm"/>
      <inkml:brushProperty name="height" value="0.6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0:12:45.847"/>
    </inkml:context>
    <inkml:brush xml:id="br0">
      <inkml:brushProperty name="width" value="0.3" units="cm"/>
      <inkml:brushProperty name="height" value="0.6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0 13 0,'19876'0'0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0:13:11.450"/>
    </inkml:context>
    <inkml:brush xml:id="br0">
      <inkml:brushProperty name="width" value="0.3" units="cm"/>
      <inkml:brushProperty name="height" value="0.6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0 22 0,'25451'0'0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0:13:26.853"/>
    </inkml:context>
    <inkml:brush xml:id="br0">
      <inkml:brushProperty name="width" value="0.3" units="cm"/>
      <inkml:brushProperty name="height" value="0.6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8447 0 0,'-8447'0'0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0:13:36.969"/>
    </inkml:context>
    <inkml:brush xml:id="br0">
      <inkml:brushProperty name="width" value="0.3" units="cm"/>
      <inkml:brushProperty name="height" value="0.6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0 2 0,'2335'0'0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03T00:13:39.241"/>
    </inkml:context>
    <inkml:brush xml:id="br0">
      <inkml:brushProperty name="width" value="0.3" units="cm"/>
      <inkml:brushProperty name="height" value="0.6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C2618B-CC01-44F2-8B7F-0E7BEFC03EE9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BBC300-8E25-4BE3-A4AC-521B076A92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9545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25D0CD13-B719-40C0-8E5B-415998E07D4E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4EDA7080-0A11-4991-8715-60A8591C18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8587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0CD13-B719-40C0-8E5B-415998E07D4E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A7080-0A11-4991-8715-60A8591C18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2318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0CD13-B719-40C0-8E5B-415998E07D4E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A7080-0A11-4991-8715-60A8591C18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38605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0CD13-B719-40C0-8E5B-415998E07D4E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A7080-0A11-4991-8715-60A8591C18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5421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0CD13-B719-40C0-8E5B-415998E07D4E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A7080-0A11-4991-8715-60A8591C18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96300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0CD13-B719-40C0-8E5B-415998E07D4E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A7080-0A11-4991-8715-60A8591C18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0317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0CD13-B719-40C0-8E5B-415998E07D4E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A7080-0A11-4991-8715-60A8591C18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19835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0CD13-B719-40C0-8E5B-415998E07D4E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A7080-0A11-4991-8715-60A8591C18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0376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0CD13-B719-40C0-8E5B-415998E07D4E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A7080-0A11-4991-8715-60A8591C18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9965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0CD13-B719-40C0-8E5B-415998E07D4E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A7080-0A11-4991-8715-60A8591C18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9295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0CD13-B719-40C0-8E5B-415998E07D4E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A7080-0A11-4991-8715-60A8591C18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81388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0CD13-B719-40C0-8E5B-415998E07D4E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A7080-0A11-4991-8715-60A8591C1855}" type="slidenum">
              <a:rPr lang="en-IN" smtClean="0"/>
              <a:t>‹#›</a:t>
            </a:fld>
            <a:endParaRPr lang="en-IN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992604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0CD13-B719-40C0-8E5B-415998E07D4E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A7080-0A11-4991-8715-60A8591C18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01046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0CD13-B719-40C0-8E5B-415998E07D4E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A7080-0A11-4991-8715-60A8591C18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05657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0CD13-B719-40C0-8E5B-415998E07D4E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A7080-0A11-4991-8715-60A8591C18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95440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0CD13-B719-40C0-8E5B-415998E07D4E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A7080-0A11-4991-8715-60A8591C18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49863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0CD13-B719-40C0-8E5B-415998E07D4E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A7080-0A11-4991-8715-60A8591C18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8963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D0CD13-B719-40C0-8E5B-415998E07D4E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DA7080-0A11-4991-8715-60A8591C18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40409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  <p:sldLayoutId id="2147483798" r:id="rId12"/>
    <p:sldLayoutId id="2147483799" r:id="rId13"/>
    <p:sldLayoutId id="2147483800" r:id="rId14"/>
    <p:sldLayoutId id="2147483801" r:id="rId15"/>
    <p:sldLayoutId id="2147483802" r:id="rId16"/>
    <p:sldLayoutId id="2147483803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/><Relationship Id="rId13" Type="http://schemas.openxmlformats.org/officeDocument/2006/relationships/customXml" Target="../ink/ink10.xml"/><Relationship Id="rId18" Type="http://schemas.openxmlformats.org/officeDocument/2006/relationships/image" Target="../media/image5.png"/><Relationship Id="rId26" Type="http://schemas.openxmlformats.org/officeDocument/2006/relationships/image" Target="../media/image9.png"/><Relationship Id="rId3" Type="http://schemas.openxmlformats.org/officeDocument/2006/relationships/customXml" Target="../ink/ink1.xml"/><Relationship Id="rId21" Type="http://schemas.openxmlformats.org/officeDocument/2006/relationships/customXml" Target="../ink/ink16.xml"/><Relationship Id="rId7" Type="http://schemas.openxmlformats.org/officeDocument/2006/relationships/customXml" Target="../ink/ink4.xml"/><Relationship Id="rId12" Type="http://schemas.openxmlformats.org/officeDocument/2006/relationships/customXml" Target="../ink/ink9.xml"/><Relationship Id="rId17" Type="http://schemas.openxmlformats.org/officeDocument/2006/relationships/customXml" Target="../ink/ink14.xml"/><Relationship Id="rId25" Type="http://schemas.openxmlformats.org/officeDocument/2006/relationships/customXml" Target="../ink/ink18.xml"/><Relationship Id="rId2" Type="http://schemas.openxmlformats.org/officeDocument/2006/relationships/image" Target="../media/image3.png"/><Relationship Id="rId16" Type="http://schemas.openxmlformats.org/officeDocument/2006/relationships/customXml" Target="../ink/ink13.xml"/><Relationship Id="rId20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11" Type="http://schemas.openxmlformats.org/officeDocument/2006/relationships/customXml" Target="../ink/ink8.xml"/><Relationship Id="rId24" Type="http://schemas.openxmlformats.org/officeDocument/2006/relationships/image" Target="../media/image8.png"/><Relationship Id="rId5" Type="http://schemas.openxmlformats.org/officeDocument/2006/relationships/customXml" Target="../ink/ink2.xml"/><Relationship Id="rId15" Type="http://schemas.openxmlformats.org/officeDocument/2006/relationships/customXml" Target="../ink/ink12.xml"/><Relationship Id="rId23" Type="http://schemas.openxmlformats.org/officeDocument/2006/relationships/customXml" Target="../ink/ink17.xml"/><Relationship Id="rId10" Type="http://schemas.openxmlformats.org/officeDocument/2006/relationships/customXml" Target="../ink/ink7.xml"/><Relationship Id="rId19" Type="http://schemas.openxmlformats.org/officeDocument/2006/relationships/customXml" Target="../ink/ink15.xml"/><Relationship Id="rId4" Type="http://schemas.openxmlformats.org/officeDocument/2006/relationships/image" Target="../media/image4.png"/><Relationship Id="rId9" Type="http://schemas.openxmlformats.org/officeDocument/2006/relationships/customXml" Target="../ink/ink6.xml"/><Relationship Id="rId14" Type="http://schemas.openxmlformats.org/officeDocument/2006/relationships/customXml" Target="../ink/ink11.xml"/><Relationship Id="rId22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orbes.com/sites/daveywinder/2026/04/02/googles-major-gmail-id-update-protect-your-email-account-now/" TargetMode="External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avigaweb.net/2015/08/si-puo-scaricare-microsoft-outlook.html" TargetMode="External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freepngimg.com/png/66534-google-icons-computer-internet-email-gmail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Relationship Id="rId5" Type="http://schemas.openxmlformats.org/officeDocument/2006/relationships/hyperlink" Target="https://hu.wikipedia.org/wiki/Gmail" TargetMode="Externa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freepngimg.com/png/70681-outlook-office-outlook.com-email-365-microsoft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Relationship Id="rId5" Type="http://schemas.openxmlformats.org/officeDocument/2006/relationships/hyperlink" Target="https://www.iphonemod.net/outlook-redesign-2108.html" TargetMode="External"/><Relationship Id="rId4" Type="http://schemas.openxmlformats.org/officeDocument/2006/relationships/image" Target="../media/image16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www.bing.com/ck/a?!&amp;&amp;p=5d1656a3a0db6494cf7e64e5cd955790cbf2464d58e94da177a8d242622172a4JmltdHM9MTc4NTYyODgwMA&amp;ptn=3&amp;ver=2&amp;hsh=4&amp;fclid=0bfd7b69-21c4-61e9-1019-6cea20206073&amp;psq=strength+and+weakness+for+gmail+and+outlook+give+it+as+a+points&amp;u=a1aHR0cHM6Ly9lbWFpbGFuYWx5dGljcy5jb20vb3V0bG9vay12cy1nbWFpbC13aGljaC1pcy1iZXR0ZXIv&amp;ntb=1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codegena.com/10-things-new-to-material-design-gmail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Outlook_on_the_web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creativecommons.org/licenses/by-sa/3.0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phonemod.net/google-gmail-for-web-redesign.html" TargetMode="Externa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creativecommons.org/licenses/by-nc/3.0/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zurecurve.co.uk/2019/03/outlook-com-error-sending-emails/" TargetMode="Externa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AF9514-A430-4123-7542-24D222495A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359640" cy="6858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7722C05-E7BB-7B64-F650-1B93527B66FC}"/>
                  </a:ext>
                </a:extLst>
              </p14:cNvPr>
              <p14:cNvContentPartPr/>
              <p14:nvPr/>
            </p14:nvContentPartPr>
            <p14:xfrm>
              <a:off x="11620440" y="274320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7722C05-E7BB-7B64-F650-1B93527B66F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566440" y="166320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9E25ACC-8CA3-DC35-B510-E0BBBBBAAE2C}"/>
                  </a:ext>
                </a:extLst>
              </p14:cNvPr>
              <p14:cNvContentPartPr/>
              <p14:nvPr/>
            </p14:nvContentPartPr>
            <p14:xfrm>
              <a:off x="11567160" y="281880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9E25ACC-8CA3-DC35-B510-E0BBBBBAAE2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513160" y="173880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1BC1615-F567-FA55-47E1-1CE433513A10}"/>
                  </a:ext>
                </a:extLst>
              </p14:cNvPr>
              <p14:cNvContentPartPr/>
              <p14:nvPr/>
            </p14:nvContentPartPr>
            <p14:xfrm>
              <a:off x="11711880" y="228600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1BC1615-F567-FA55-47E1-1CE433513A1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657880" y="120600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09A37B10-336D-BF98-9A8F-EA1D48B83954}"/>
                  </a:ext>
                </a:extLst>
              </p14:cNvPr>
              <p14:cNvContentPartPr/>
              <p14:nvPr/>
            </p14:nvContentPartPr>
            <p14:xfrm>
              <a:off x="12024360" y="266760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09A37B10-336D-BF98-9A8F-EA1D48B8395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970360" y="158760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A62AA94-86FE-24E9-8498-AE1C8B44D7B7}"/>
                  </a:ext>
                </a:extLst>
              </p14:cNvPr>
              <p14:cNvContentPartPr/>
              <p14:nvPr/>
            </p14:nvContentPartPr>
            <p14:xfrm>
              <a:off x="11932920" y="266760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A62AA94-86FE-24E9-8498-AE1C8B44D7B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878920" y="158760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D8D752AC-8B46-891D-0E45-BD7DD973B31D}"/>
                  </a:ext>
                </a:extLst>
              </p14:cNvPr>
              <p14:cNvContentPartPr/>
              <p14:nvPr/>
            </p14:nvContentPartPr>
            <p14:xfrm>
              <a:off x="11986200" y="3223080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D8D752AC-8B46-891D-0E45-BD7DD973B31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932200" y="3115080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ACD67CF5-E756-DF11-3281-1C19F320F6ED}"/>
                  </a:ext>
                </a:extLst>
              </p14:cNvPr>
              <p14:cNvContentPartPr/>
              <p14:nvPr/>
            </p14:nvContentPartPr>
            <p14:xfrm>
              <a:off x="12031920" y="3337560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ACD67CF5-E756-DF11-3281-1C19F320F6E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977920" y="3229560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4921A1F6-FE9F-8A69-08B4-5ED09B1E9476}"/>
                  </a:ext>
                </a:extLst>
              </p14:cNvPr>
              <p14:cNvContentPartPr/>
              <p14:nvPr/>
            </p14:nvContentPartPr>
            <p14:xfrm>
              <a:off x="12077640" y="3268800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4921A1F6-FE9F-8A69-08B4-5ED09B1E947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023640" y="3160800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6ADD8D75-9A9E-8E75-7A7B-0650F3296626}"/>
                  </a:ext>
                </a:extLst>
              </p14:cNvPr>
              <p14:cNvContentPartPr/>
              <p14:nvPr/>
            </p14:nvContentPartPr>
            <p14:xfrm>
              <a:off x="12077640" y="3192840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6ADD8D75-9A9E-8E75-7A7B-0650F329662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023640" y="3084840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E9252991-8CC2-35D6-AE67-58E238DB76C2}"/>
                  </a:ext>
                </a:extLst>
              </p14:cNvPr>
              <p14:cNvContentPartPr/>
              <p14:nvPr/>
            </p14:nvContentPartPr>
            <p14:xfrm>
              <a:off x="12115800" y="3268800"/>
              <a:ext cx="3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E9252991-8CC2-35D6-AE67-58E238DB76C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061800" y="3160800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3C41C4FF-108C-EAE3-E5E1-63DF89C7CF60}"/>
                  </a:ext>
                </a:extLst>
              </p14:cNvPr>
              <p14:cNvContentPartPr/>
              <p14:nvPr/>
            </p14:nvContentPartPr>
            <p14:xfrm>
              <a:off x="274320" y="259200"/>
              <a:ext cx="36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3C41C4FF-108C-EAE3-E5E1-63DF89C7CF6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0320" y="151200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D1328181-00C9-335C-2F2F-ECFF3522B7FA}"/>
                  </a:ext>
                </a:extLst>
              </p14:cNvPr>
              <p14:cNvContentPartPr/>
              <p14:nvPr/>
            </p14:nvContentPartPr>
            <p14:xfrm>
              <a:off x="373320" y="251280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D1328181-00C9-335C-2F2F-ECFF3522B7F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9320" y="143280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AC7018D2-DDB3-FFA2-4C4E-675C4A527AE2}"/>
                  </a:ext>
                </a:extLst>
              </p14:cNvPr>
              <p14:cNvContentPartPr/>
              <p14:nvPr/>
            </p14:nvContentPartPr>
            <p14:xfrm>
              <a:off x="213480" y="243720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AC7018D2-DDB3-FFA2-4C4E-675C4A527AE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9480" y="135720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0DC91072-639F-14A8-C78E-B1329EDAE6B8}"/>
                  </a:ext>
                </a:extLst>
              </p14:cNvPr>
              <p14:cNvContentPartPr/>
              <p14:nvPr/>
            </p14:nvContentPartPr>
            <p14:xfrm>
              <a:off x="3489095" y="6753366"/>
              <a:ext cx="7155720" cy="7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0DC91072-639F-14A8-C78E-B1329EDAE6B8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435095" y="6537366"/>
                <a:ext cx="726336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2A67A890-9739-D8DF-D2BD-66C8CFAF75FA}"/>
                  </a:ext>
                </a:extLst>
              </p14:cNvPr>
              <p14:cNvContentPartPr/>
              <p14:nvPr/>
            </p14:nvContentPartPr>
            <p14:xfrm>
              <a:off x="3162376" y="6557948"/>
              <a:ext cx="9162360" cy="72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2A67A890-9739-D8DF-D2BD-66C8CFAF75FA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108376" y="6341948"/>
                <a:ext cx="927000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3EB3AAFB-968A-0AA2-5E05-18B05F6BB13F}"/>
                  </a:ext>
                </a:extLst>
              </p14:cNvPr>
              <p14:cNvContentPartPr/>
              <p14:nvPr/>
            </p14:nvContentPartPr>
            <p14:xfrm>
              <a:off x="72496" y="6450308"/>
              <a:ext cx="3041280" cy="72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3EB3AAFB-968A-0AA2-5E05-18B05F6BB13F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8496" y="6234308"/>
                <a:ext cx="314892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50C6270D-01F3-8A91-4EF3-F5AF7A5B5495}"/>
                  </a:ext>
                </a:extLst>
              </p14:cNvPr>
              <p14:cNvContentPartPr/>
              <p14:nvPr/>
            </p14:nvContentPartPr>
            <p14:xfrm>
              <a:off x="3385576" y="6680708"/>
              <a:ext cx="840600" cy="72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50C6270D-01F3-8A91-4EF3-F5AF7A5B5495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3331576" y="6464708"/>
                <a:ext cx="94824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4126FC2D-F719-B627-929B-8EED702DB68D}"/>
                  </a:ext>
                </a:extLst>
              </p14:cNvPr>
              <p14:cNvContentPartPr/>
              <p14:nvPr/>
            </p14:nvContentPartPr>
            <p14:xfrm>
              <a:off x="4365856" y="6441668"/>
              <a:ext cx="360" cy="3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4126FC2D-F719-B627-929B-8EED702DB68D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4312216" y="6334028"/>
                <a:ext cx="108000" cy="21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2684592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84BB3B1-6752-E031-313F-BB0051EE8A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431799"/>
            <a:ext cx="12192000" cy="7861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83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813F093-AF10-E6DE-DD2E-8EA9CF8BCE66}"/>
              </a:ext>
            </a:extLst>
          </p:cNvPr>
          <p:cNvSpPr txBox="1"/>
          <p:nvPr/>
        </p:nvSpPr>
        <p:spPr>
          <a:xfrm>
            <a:off x="1616528" y="2567784"/>
            <a:ext cx="6939336" cy="24314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IN" sz="3200" dirty="0"/>
              <a:t>Created by </a:t>
            </a:r>
            <a:r>
              <a:rPr lang="en-IN" sz="3200" b="1" dirty="0"/>
              <a:t>Google</a:t>
            </a:r>
            <a:r>
              <a:rPr lang="en-IN" sz="3200" dirty="0"/>
              <a:t> 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IN" sz="3200" dirty="0"/>
              <a:t>Free email service 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IN" sz="3200" dirty="0"/>
              <a:t>Easy to send and receive emails 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IN" sz="3200" dirty="0"/>
              <a:t>Used by millions of people worldwide </a:t>
            </a:r>
          </a:p>
          <a:p>
            <a:endParaRPr lang="en-IN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3D1A14-CD05-31D2-283A-1E68B4737206}"/>
              </a:ext>
            </a:extLst>
          </p:cNvPr>
          <p:cNvSpPr txBox="1"/>
          <p:nvPr/>
        </p:nvSpPr>
        <p:spPr>
          <a:xfrm>
            <a:off x="1215919" y="1284292"/>
            <a:ext cx="57164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i="1" u="sng" dirty="0">
                <a:solidFill>
                  <a:schemeClr val="bg1">
                    <a:lumMod val="85000"/>
                    <a:lumOff val="15000"/>
                  </a:schemeClr>
                </a:solidFill>
              </a:rPr>
              <a:t>Introduction to G-mail 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9FA06B-4643-32E4-9414-2B7475EE4D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7725746" y="693573"/>
            <a:ext cx="3461658" cy="3172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642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AC4618-C949-C8A1-2A2B-E5B1D4402871}"/>
              </a:ext>
            </a:extLst>
          </p:cNvPr>
          <p:cNvSpPr txBox="1"/>
          <p:nvPr/>
        </p:nvSpPr>
        <p:spPr>
          <a:xfrm>
            <a:off x="1010836" y="3092351"/>
            <a:ext cx="1051813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Microsoft Outlook is an email and personal information management application.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Developed by </a:t>
            </a:r>
            <a:r>
              <a:rPr lang="en-IN" sz="2400" b="1" dirty="0"/>
              <a:t>Microsoft</a:t>
            </a:r>
            <a:r>
              <a:rPr lang="en-IN" sz="24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Used to send and receive emails.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Helps manage daily communication and work.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Available on Windows, Mac, web, and mobile devices.</a:t>
            </a:r>
          </a:p>
          <a:p>
            <a:endParaRPr lang="en-IN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B51702-B811-6121-3791-798D0A9DDC35}"/>
              </a:ext>
            </a:extLst>
          </p:cNvPr>
          <p:cNvSpPr txBox="1"/>
          <p:nvPr/>
        </p:nvSpPr>
        <p:spPr>
          <a:xfrm>
            <a:off x="1114672" y="1457325"/>
            <a:ext cx="58367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i="1" u="sng" dirty="0">
                <a:solidFill>
                  <a:schemeClr val="bg1">
                    <a:lumMod val="85000"/>
                    <a:lumOff val="15000"/>
                  </a:schemeClr>
                </a:solidFill>
              </a:rPr>
              <a:t>Introduction to outlook 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954F2D-AD1A-A8B0-C8B9-DE2F58A07A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565561" y="625440"/>
            <a:ext cx="3615603" cy="2494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209636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D7732E9-87D9-0C46-63F0-929974D80067}"/>
              </a:ext>
            </a:extLst>
          </p:cNvPr>
          <p:cNvSpPr txBox="1"/>
          <p:nvPr/>
        </p:nvSpPr>
        <p:spPr>
          <a:xfrm>
            <a:off x="1184475" y="3460637"/>
            <a:ext cx="1248218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i="1" u="sng" dirty="0">
                <a:solidFill>
                  <a:schemeClr val="bg1">
                    <a:lumMod val="85000"/>
                    <a:lumOff val="15000"/>
                  </a:schemeClr>
                </a:solidFill>
              </a:rPr>
              <a:t>Outlook :</a:t>
            </a:r>
          </a:p>
          <a:p>
            <a:endParaRPr lang="en-IN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🔵 </a:t>
            </a:r>
            <a:r>
              <a:rPr lang="en-IN" sz="2400" b="1" dirty="0"/>
              <a:t>Blue and White Theme</a:t>
            </a:r>
            <a:r>
              <a:rPr lang="en-IN" sz="2400" dirty="0"/>
              <a:t> – Gives a clean, professional, and modern look.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⚪ </a:t>
            </a:r>
            <a:r>
              <a:rPr lang="en-IN" sz="2400" b="1" dirty="0"/>
              <a:t>Simple Interface</a:t>
            </a:r>
            <a:r>
              <a:rPr lang="en-IN" sz="2400" dirty="0"/>
              <a:t> – Uses light </a:t>
            </a:r>
            <a:r>
              <a:rPr lang="en-IN" sz="2400" dirty="0" err="1"/>
              <a:t>colors</a:t>
            </a:r>
            <a:r>
              <a:rPr lang="en-IN" sz="2400" dirty="0"/>
              <a:t> with clear icons for easy navigation.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🌙 </a:t>
            </a:r>
            <a:r>
              <a:rPr lang="en-IN" sz="2400" b="1" dirty="0"/>
              <a:t>Dark Mode Available</a:t>
            </a:r>
            <a:r>
              <a:rPr lang="en-IN" sz="2400" dirty="0"/>
              <a:t> – Reduces eye strain and provides a comfortable viewing</a:t>
            </a:r>
          </a:p>
          <a:p>
            <a:endParaRPr lang="en-IN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A338A3-C91A-19BC-6765-2E26C4ED6612}"/>
              </a:ext>
            </a:extLst>
          </p:cNvPr>
          <p:cNvSpPr txBox="1"/>
          <p:nvPr/>
        </p:nvSpPr>
        <p:spPr>
          <a:xfrm>
            <a:off x="1184475" y="1677343"/>
            <a:ext cx="1109252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🔴 </a:t>
            </a:r>
            <a:r>
              <a:rPr lang="en-IN" sz="2400" b="1" dirty="0"/>
              <a:t>Uses Google </a:t>
            </a:r>
            <a:r>
              <a:rPr lang="en-IN" sz="2400" b="1" dirty="0" err="1"/>
              <a:t>colors</a:t>
            </a:r>
            <a:r>
              <a:rPr lang="en-IN" sz="2400" dirty="0"/>
              <a:t> – Red, Blue, Yellow, and Green in the logo.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⚪ </a:t>
            </a:r>
            <a:r>
              <a:rPr lang="en-IN" sz="2400" b="1" dirty="0"/>
              <a:t>White background</a:t>
            </a:r>
            <a:r>
              <a:rPr lang="en-IN" sz="2400" dirty="0"/>
              <a:t> – Makes the interface clean and easy to read.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🎨 </a:t>
            </a:r>
            <a:r>
              <a:rPr lang="en-IN" sz="2400" b="1" dirty="0"/>
              <a:t>Simple and modern design</a:t>
            </a:r>
            <a:r>
              <a:rPr lang="en-IN" sz="2400" dirty="0"/>
              <a:t> – Bright </a:t>
            </a:r>
            <a:r>
              <a:rPr lang="en-IN" sz="2400" dirty="0" err="1"/>
              <a:t>colors</a:t>
            </a:r>
            <a:r>
              <a:rPr lang="en-IN" sz="2400" dirty="0"/>
              <a:t> with good contrast for better visibility. 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5D7016-6150-33BD-5B4F-8960B52AC5A9}"/>
              </a:ext>
            </a:extLst>
          </p:cNvPr>
          <p:cNvSpPr txBox="1"/>
          <p:nvPr/>
        </p:nvSpPr>
        <p:spPr>
          <a:xfrm>
            <a:off x="975731" y="816474"/>
            <a:ext cx="31017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i="1" u="sng" dirty="0">
                <a:solidFill>
                  <a:schemeClr val="bg1">
                    <a:lumMod val="85000"/>
                    <a:lumOff val="15000"/>
                  </a:schemeClr>
                </a:solidFill>
              </a:rPr>
              <a:t>Gmail :</a:t>
            </a:r>
            <a:endParaRPr lang="en-IN" sz="4000" b="1" i="1" u="sng" dirty="0">
              <a:solidFill>
                <a:schemeClr val="bg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0478939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FCCDD-6F00-045E-93EC-8C7190518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0680" y="-99526"/>
            <a:ext cx="3856037" cy="1639884"/>
          </a:xfrm>
        </p:spPr>
        <p:txBody>
          <a:bodyPr>
            <a:normAutofit/>
          </a:bodyPr>
          <a:lstStyle/>
          <a:p>
            <a:r>
              <a:rPr lang="en-US" b="1" i="1" u="sng" dirty="0">
                <a:solidFill>
                  <a:schemeClr val="bg1">
                    <a:lumMod val="85000"/>
                    <a:lumOff val="15000"/>
                  </a:schemeClr>
                </a:solidFill>
              </a:rPr>
              <a:t>LOGO &amp; branding</a:t>
            </a:r>
            <a:endParaRPr lang="en-IN" b="1" i="1" u="sng" dirty="0">
              <a:solidFill>
                <a:schemeClr val="bg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6C17A48-663E-69D7-5EB4-604B9E6B8A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880673" y="448059"/>
            <a:ext cx="3856037" cy="3856037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4C1455-B0E8-C2E0-95F3-1E97E5684B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53399" y="1978898"/>
            <a:ext cx="3856037" cy="3541714"/>
          </a:xfrm>
        </p:spPr>
        <p:txBody>
          <a:bodyPr>
            <a:normAutofit/>
          </a:bodyPr>
          <a:lstStyle/>
          <a:p>
            <a:r>
              <a:rPr lang="en-US" sz="3600" b="1" i="1" u="sng" dirty="0">
                <a:solidFill>
                  <a:schemeClr val="bg2">
                    <a:lumMod val="50000"/>
                  </a:schemeClr>
                </a:solidFill>
              </a:rPr>
              <a:t>GMAIL: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000" dirty="0" err="1"/>
              <a:t>Colorful</a:t>
            </a:r>
            <a:r>
              <a:rPr lang="en-IN" sz="3000" dirty="0"/>
              <a:t> "M" logo, modern Google branding, simple design.</a:t>
            </a:r>
            <a:endParaRPr lang="en-IN" sz="3000" b="1" i="1" u="sng" dirty="0">
              <a:solidFill>
                <a:schemeClr val="tx1">
                  <a:lumMod val="50000"/>
                </a:schemeClr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3666F31-5557-F487-4C60-C71235EBDF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5544570" y="4133461"/>
            <a:ext cx="2336103" cy="175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6286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72522-77B1-36F6-2062-507FF5BC8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6703" y="329458"/>
            <a:ext cx="3856037" cy="1639884"/>
          </a:xfrm>
        </p:spPr>
        <p:txBody>
          <a:bodyPr/>
          <a:lstStyle/>
          <a:p>
            <a:r>
              <a:rPr lang="en-US" b="1" i="1" u="sng" dirty="0">
                <a:solidFill>
                  <a:schemeClr val="bg1"/>
                </a:solidFill>
              </a:rPr>
              <a:t>Outlook:</a:t>
            </a:r>
            <a:endParaRPr lang="en-IN" b="1" i="1" u="sng" dirty="0">
              <a:solidFill>
                <a:schemeClr val="bg1"/>
              </a:solidFill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0DA8DE6-F7A6-2E60-40E5-5012928F4E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221646" y="3144416"/>
            <a:ext cx="2539075" cy="2539075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FB489C-E72C-18E1-3C6F-16BF3237AB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6703" y="2614056"/>
            <a:ext cx="3856037" cy="3541714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Blue "O" and envelope </a:t>
            </a:r>
            <a:r>
              <a:rPr lang="en-IN" sz="2800" dirty="0"/>
              <a:t>logo</a:t>
            </a:r>
            <a:r>
              <a:rPr lang="en-IN" sz="2400" dirty="0"/>
              <a:t>, professional Microsoft branding, clean design. </a:t>
            </a:r>
          </a:p>
          <a:p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95554D3-3BA2-94AE-B1D3-B6C9507485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7979627" y="1022350"/>
            <a:ext cx="3441700" cy="2406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5218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1C65781-8DE9-B934-D0FB-A92E27015AA4}"/>
              </a:ext>
            </a:extLst>
          </p:cNvPr>
          <p:cNvSpPr txBox="1"/>
          <p:nvPr/>
        </p:nvSpPr>
        <p:spPr>
          <a:xfrm>
            <a:off x="5631180" y="297180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34AB3A-7997-BBD0-21DC-DA4E218CD940}"/>
              </a:ext>
            </a:extLst>
          </p:cNvPr>
          <p:cNvSpPr txBox="1"/>
          <p:nvPr/>
        </p:nvSpPr>
        <p:spPr>
          <a:xfrm>
            <a:off x="725086" y="1012955"/>
            <a:ext cx="377218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IN" dirty="0"/>
              <a:t> </a:t>
            </a:r>
          </a:p>
          <a:p>
            <a:r>
              <a:rPr lang="en-IN" sz="3600" i="1" u="sng" dirty="0">
                <a:solidFill>
                  <a:schemeClr val="bg1">
                    <a:lumMod val="85000"/>
                    <a:lumOff val="15000"/>
                  </a:schemeClr>
                </a:solidFill>
              </a:rPr>
              <a:t>Strengths of Gmail :</a:t>
            </a:r>
          </a:p>
          <a:p>
            <a:pPr lvl="0"/>
            <a:endParaRPr lang="en-IN" i="1" u="sng" dirty="0">
              <a:solidFill>
                <a:schemeClr val="bg1">
                  <a:lumMod val="85000"/>
                  <a:lumOff val="15000"/>
                </a:schemeClr>
              </a:solidFill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lvl="0"/>
            <a:endParaRPr lang="en-IN" dirty="0"/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AFE119-4706-6E19-F3C2-2C6299128A26}"/>
              </a:ext>
            </a:extLst>
          </p:cNvPr>
          <p:cNvSpPr txBox="1"/>
          <p:nvPr/>
        </p:nvSpPr>
        <p:spPr>
          <a:xfrm>
            <a:off x="1336960" y="2945289"/>
            <a:ext cx="10115913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Easy Email Management</a:t>
            </a:r>
            <a:r>
              <a:rPr lang="en-IN" sz="2400" dirty="0"/>
              <a:t> – Organizes emails with folders, filters, and categories.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Built-in Calendar</a:t>
            </a:r>
            <a:r>
              <a:rPr lang="en-IN" sz="2400" dirty="0"/>
              <a:t> – Schedule meetings, set reminders, and manage appointments.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Strong Security</a:t>
            </a:r>
            <a:r>
              <a:rPr lang="en-IN" sz="2400" dirty="0"/>
              <a:t> – Protects emails with spam filtering and security features.</a:t>
            </a:r>
          </a:p>
          <a:p>
            <a:endParaRPr lang="en-IN" sz="2800" b="1" dirty="0"/>
          </a:p>
          <a:p>
            <a:endParaRPr lang="en-IN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0849FC4-670A-427F-E988-C570F6B4E6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229963" y="401368"/>
            <a:ext cx="3140706" cy="2365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04337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0EDAB9-E376-D9B9-91EF-E702C0F47645}"/>
              </a:ext>
            </a:extLst>
          </p:cNvPr>
          <p:cNvSpPr txBox="1"/>
          <p:nvPr/>
        </p:nvSpPr>
        <p:spPr>
          <a:xfrm>
            <a:off x="515620" y="1201694"/>
            <a:ext cx="11806437" cy="33547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b="1" i="1" u="sng" dirty="0">
                <a:solidFill>
                  <a:schemeClr val="bg1">
                    <a:lumMod val="85000"/>
                    <a:lumOff val="15000"/>
                  </a:schemeClr>
                </a:solidFill>
              </a:rPr>
              <a:t>Strengths of Outlook :</a:t>
            </a:r>
          </a:p>
          <a:p>
            <a:endParaRPr lang="en-IN" sz="2800" b="1" dirty="0"/>
          </a:p>
          <a:p>
            <a:pPr lvl="0"/>
            <a:r>
              <a:rPr lang="en-IN" sz="2400" dirty="0"/>
              <a:t>📅 </a:t>
            </a:r>
            <a:r>
              <a:rPr lang="en-IN" sz="2400" b="1" dirty="0"/>
              <a:t>Built-in Calendar</a:t>
            </a:r>
            <a:r>
              <a:rPr lang="en-IN" sz="2400" dirty="0"/>
              <a:t> – Easily schedule meetings and manage appointments. </a:t>
            </a:r>
          </a:p>
          <a:p>
            <a:pPr lvl="0"/>
            <a:r>
              <a:rPr lang="en-IN" sz="2400" dirty="0"/>
              <a:t>🔗 </a:t>
            </a:r>
            <a:r>
              <a:rPr lang="en-IN" sz="2400" b="1" dirty="0"/>
              <a:t>Microsoft Office Integration</a:t>
            </a:r>
            <a:r>
              <a:rPr lang="en-IN" sz="2400" dirty="0"/>
              <a:t> – Works seamlessly with Word, Excel, Teams, and OneDrive. </a:t>
            </a:r>
          </a:p>
          <a:p>
            <a:pPr lvl="0"/>
            <a:r>
              <a:rPr lang="en-IN" sz="2400" dirty="0"/>
              <a:t>🔒 </a:t>
            </a:r>
            <a:r>
              <a:rPr lang="en-IN" sz="2400" b="1" dirty="0"/>
              <a:t>Strong Security</a:t>
            </a:r>
            <a:r>
              <a:rPr lang="en-IN" sz="2400" dirty="0"/>
              <a:t> – Advanced spam filtering and email protection. </a:t>
            </a:r>
          </a:p>
          <a:p>
            <a:pPr lvl="0"/>
            <a:r>
              <a:rPr lang="en-IN" sz="2400" dirty="0"/>
              <a:t>📂 </a:t>
            </a:r>
            <a:r>
              <a:rPr lang="en-IN" sz="2400" b="1" dirty="0"/>
              <a:t>Email Organization</a:t>
            </a:r>
            <a:r>
              <a:rPr lang="en-IN" sz="2400" dirty="0"/>
              <a:t> – Folders, categories</a:t>
            </a:r>
            <a:r>
              <a:rPr lang="en-IN" sz="2800" dirty="0"/>
              <a:t>, and rules help keep emails organized.</a:t>
            </a:r>
          </a:p>
          <a:p>
            <a:endParaRPr lang="en-IN" sz="2800" b="1" dirty="0"/>
          </a:p>
          <a:p>
            <a:r>
              <a:rPr lang="en-IN" sz="2000" dirty="0"/>
              <a:t> 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ABFC21-ED6A-FB49-DC25-34BF0DB52A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781851" y="3839400"/>
            <a:ext cx="3695238" cy="231428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E2C9903-6699-89BB-F690-CB2BD9226A2E}"/>
              </a:ext>
            </a:extLst>
          </p:cNvPr>
          <p:cNvSpPr txBox="1"/>
          <p:nvPr/>
        </p:nvSpPr>
        <p:spPr>
          <a:xfrm>
            <a:off x="3781851" y="6153686"/>
            <a:ext cx="369523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>
                <a:hlinkClick r:id="rId3" tooltip="https://en.wikipedia.org/wiki/Outlook_on_the_web"/>
              </a:rPr>
              <a:t>This Photo</a:t>
            </a:r>
            <a:r>
              <a:rPr lang="en-IN" sz="900"/>
              <a:t> by Unknown Author is licensed under </a:t>
            </a:r>
            <a:r>
              <a:rPr lang="en-IN" sz="900">
                <a:hlinkClick r:id="rId4" tooltip="https://creativecommons.org/licenses/by-sa/3.0/"/>
              </a:rPr>
              <a:t>CC BY-SA</a:t>
            </a:r>
            <a:endParaRPr lang="en-IN" sz="900"/>
          </a:p>
        </p:txBody>
      </p:sp>
    </p:spTree>
    <p:extLst>
      <p:ext uri="{BB962C8B-B14F-4D97-AF65-F5344CB8AC3E}">
        <p14:creationId xmlns:p14="http://schemas.microsoft.com/office/powerpoint/2010/main" val="163759311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FAD385-66F6-7BD2-49C6-4D114700129E}"/>
              </a:ext>
            </a:extLst>
          </p:cNvPr>
          <p:cNvSpPr txBox="1"/>
          <p:nvPr/>
        </p:nvSpPr>
        <p:spPr>
          <a:xfrm>
            <a:off x="1181288" y="1826395"/>
            <a:ext cx="9156674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i="1" u="sng" dirty="0">
                <a:solidFill>
                  <a:schemeClr val="bg1">
                    <a:lumMod val="85000"/>
                    <a:lumOff val="15000"/>
                  </a:schemeClr>
                </a:solidFill>
              </a:rPr>
              <a:t>Weaknesses of Gmail :</a:t>
            </a:r>
          </a:p>
          <a:p>
            <a:pPr lvl="0"/>
            <a:endParaRPr lang="en-IN" sz="2000" i="1" u="sng" dirty="0">
              <a:solidFill>
                <a:schemeClr val="bg1">
                  <a:lumMod val="85000"/>
                  <a:lumOff val="15000"/>
                </a:schemeClr>
              </a:solidFill>
            </a:endParaRPr>
          </a:p>
          <a:p>
            <a:pPr lvl="0"/>
            <a:br>
              <a:rPr lang="en-IN" sz="2000" dirty="0"/>
            </a:br>
            <a:r>
              <a:rPr lang="en-IN" sz="2400" dirty="0"/>
              <a:t>❌ </a:t>
            </a:r>
            <a:r>
              <a:rPr lang="en-IN" sz="2400" b="1" dirty="0"/>
              <a:t>Limited Free Storage</a:t>
            </a:r>
            <a:r>
              <a:rPr lang="en-IN" sz="2400" dirty="0"/>
              <a:t> – Shared with Google Drive and Photos. </a:t>
            </a:r>
          </a:p>
          <a:p>
            <a:pPr lvl="0"/>
            <a:r>
              <a:rPr lang="en-IN" sz="2400" dirty="0"/>
              <a:t>❌ </a:t>
            </a:r>
            <a:r>
              <a:rPr lang="en-IN" sz="2400" b="1" dirty="0"/>
              <a:t>Internet Required</a:t>
            </a:r>
            <a:r>
              <a:rPr lang="en-IN" sz="2400" dirty="0"/>
              <a:t> – Most features need an internet connection. </a:t>
            </a:r>
          </a:p>
          <a:p>
            <a:pPr lvl="0"/>
            <a:r>
              <a:rPr lang="en-IN" sz="2400" dirty="0"/>
              <a:t>❌ </a:t>
            </a:r>
            <a:r>
              <a:rPr lang="en-IN" sz="2400" b="1" dirty="0"/>
              <a:t>Privacy Concerns</a:t>
            </a:r>
            <a:r>
              <a:rPr lang="en-IN" sz="2400" dirty="0"/>
              <a:t> – Some users worry about Google collecting data.</a:t>
            </a:r>
          </a:p>
          <a:p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571F804-8239-1358-9C7F-24A2C0CFF44B}"/>
              </a:ext>
            </a:extLst>
          </p:cNvPr>
          <p:cNvSpPr txBox="1"/>
          <p:nvPr/>
        </p:nvSpPr>
        <p:spPr>
          <a:xfrm>
            <a:off x="2113641" y="3734610"/>
            <a:ext cx="9380412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IN" dirty="0"/>
            </a:br>
            <a:endParaRPr lang="en-IN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C7B5CD-F7E6-B864-E84F-1A11AE92B7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096000" y="631159"/>
            <a:ext cx="3824456" cy="214934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066C072-62C9-DBC5-F24A-DD50C6C29CF5}"/>
              </a:ext>
            </a:extLst>
          </p:cNvPr>
          <p:cNvSpPr txBox="1"/>
          <p:nvPr/>
        </p:nvSpPr>
        <p:spPr>
          <a:xfrm>
            <a:off x="5880262" y="6793956"/>
            <a:ext cx="456033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>
                <a:hlinkClick r:id="rId3" tooltip="https://www.iphonemod.net/google-gmail-for-web-redesign.html"/>
              </a:rPr>
              <a:t>This Photo</a:t>
            </a:r>
            <a:r>
              <a:rPr lang="en-IN" sz="900"/>
              <a:t> by Unknown Author is licensed under </a:t>
            </a:r>
            <a:r>
              <a:rPr lang="en-IN" sz="900">
                <a:hlinkClick r:id="rId4" tooltip="https://creativecommons.org/licenses/by-nc/3.0/"/>
              </a:rPr>
              <a:t>CC BY-NC</a:t>
            </a:r>
            <a:endParaRPr lang="en-IN" sz="900"/>
          </a:p>
        </p:txBody>
      </p:sp>
    </p:spTree>
    <p:extLst>
      <p:ext uri="{BB962C8B-B14F-4D97-AF65-F5344CB8AC3E}">
        <p14:creationId xmlns:p14="http://schemas.microsoft.com/office/powerpoint/2010/main" val="11655118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924E45-8091-3EB5-136B-84A1C5CE5E01}"/>
              </a:ext>
            </a:extLst>
          </p:cNvPr>
          <p:cNvSpPr txBox="1"/>
          <p:nvPr/>
        </p:nvSpPr>
        <p:spPr>
          <a:xfrm>
            <a:off x="744046" y="1279245"/>
            <a:ext cx="10504799" cy="27392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b="1" i="1" u="sng" dirty="0">
                <a:solidFill>
                  <a:schemeClr val="bg1">
                    <a:lumMod val="85000"/>
                    <a:lumOff val="15000"/>
                  </a:schemeClr>
                </a:solidFill>
              </a:rPr>
              <a:t>Weaknesses of Outlook :</a:t>
            </a:r>
          </a:p>
          <a:p>
            <a:endParaRPr lang="en-IN" sz="2800" b="1" dirty="0"/>
          </a:p>
          <a:p>
            <a:endParaRPr lang="en-IN" b="1" dirty="0"/>
          </a:p>
          <a:p>
            <a:pPr lvl="0"/>
            <a:r>
              <a:rPr lang="en-IN" sz="2400" dirty="0"/>
              <a:t>❌ </a:t>
            </a:r>
            <a:r>
              <a:rPr lang="en-IN" sz="2400" b="1" dirty="0"/>
              <a:t>Can Be Complex</a:t>
            </a:r>
            <a:r>
              <a:rPr lang="en-IN" sz="2400" dirty="0"/>
              <a:t> – More features make it harder for beginners. </a:t>
            </a:r>
          </a:p>
          <a:p>
            <a:pPr lvl="0"/>
            <a:r>
              <a:rPr lang="en-IN" sz="2400" dirty="0"/>
              <a:t>💰 </a:t>
            </a:r>
            <a:r>
              <a:rPr lang="en-IN" sz="2400" b="1" dirty="0"/>
              <a:t>Paid Features</a:t>
            </a:r>
            <a:r>
              <a:rPr lang="en-IN" sz="2400" dirty="0"/>
              <a:t> – Many advanced features require a Microsoft 365 subscription. </a:t>
            </a:r>
          </a:p>
          <a:p>
            <a:pPr lvl="0"/>
            <a:r>
              <a:rPr lang="en-IN" sz="2400" dirty="0"/>
              <a:t>🖥️ </a:t>
            </a:r>
            <a:r>
              <a:rPr lang="en-IN" sz="2400" b="1" dirty="0"/>
              <a:t>Uses More System Resources</a:t>
            </a:r>
            <a:r>
              <a:rPr lang="en-IN" sz="2400" dirty="0"/>
              <a:t> – Can be slower on older computers.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6E035A-4D37-DC51-0051-E4EA3AB1392F}"/>
              </a:ext>
            </a:extLst>
          </p:cNvPr>
          <p:cNvSpPr txBox="1"/>
          <p:nvPr/>
        </p:nvSpPr>
        <p:spPr>
          <a:xfrm>
            <a:off x="1820174" y="3720011"/>
            <a:ext cx="9428671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</a:t>
            </a:r>
            <a:endParaRPr lang="en-IN" sz="2000" dirty="0"/>
          </a:p>
          <a:p>
            <a:endParaRPr lang="en-IN" sz="2000" dirty="0"/>
          </a:p>
          <a:p>
            <a:r>
              <a:rPr lang="en-IN" sz="2000" dirty="0"/>
              <a:t> 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131D12-B969-1E0E-678D-9DB11C575F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534509" y="3696499"/>
            <a:ext cx="3703680" cy="2428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058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D7CB9-D8E7-539E-BD98-491F0DBF6835}"/>
              </a:ext>
            </a:extLst>
          </p:cNvPr>
          <p:cNvSpPr txBox="1"/>
          <p:nvPr/>
        </p:nvSpPr>
        <p:spPr>
          <a:xfrm>
            <a:off x="1324947" y="347179"/>
            <a:ext cx="39095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i="1" u="sng" dirty="0">
                <a:solidFill>
                  <a:schemeClr val="bg1"/>
                </a:solidFill>
              </a:rPr>
              <a:t>Typography in Gmail 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A6733F-7CA5-E7BA-C63F-9599AFD95636}"/>
              </a:ext>
            </a:extLst>
          </p:cNvPr>
          <p:cNvSpPr txBox="1"/>
          <p:nvPr/>
        </p:nvSpPr>
        <p:spPr>
          <a:xfrm>
            <a:off x="1957873" y="1213009"/>
            <a:ext cx="8276253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Simple and clear fonts</a:t>
            </a:r>
            <a:r>
              <a:rPr lang="en-IN" sz="2400" dirty="0"/>
              <a:t> – Gmail uses easy-to-read fonts for all users.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Good font size</a:t>
            </a:r>
            <a:r>
              <a:rPr lang="en-IN" sz="2400" dirty="0"/>
              <a:t> – Text is readable on both mobile and desktop.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Bold headings</a:t>
            </a:r>
            <a:r>
              <a:rPr lang="en-IN" sz="2400" dirty="0"/>
              <a:t> – Important emails and labels stand out clearly.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Neat text layout</a:t>
            </a:r>
            <a:r>
              <a:rPr lang="en-IN" sz="2400" dirty="0"/>
              <a:t> – Proper spacing makes emails easy to read. 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8CD5FA-0028-1936-3DD6-2A4C9E11A5B8}"/>
              </a:ext>
            </a:extLst>
          </p:cNvPr>
          <p:cNvSpPr txBox="1"/>
          <p:nvPr/>
        </p:nvSpPr>
        <p:spPr>
          <a:xfrm>
            <a:off x="1156996" y="3429000"/>
            <a:ext cx="44693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i="1" u="sng" dirty="0">
                <a:solidFill>
                  <a:schemeClr val="bg1"/>
                </a:solidFill>
              </a:rPr>
              <a:t>Typography in Outlook 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D753DE-80CB-6607-0652-FFFC052A1BF8}"/>
              </a:ext>
            </a:extLst>
          </p:cNvPr>
          <p:cNvSpPr txBox="1"/>
          <p:nvPr/>
        </p:nvSpPr>
        <p:spPr>
          <a:xfrm>
            <a:off x="1828800" y="4282751"/>
            <a:ext cx="821093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Clear and readable fonts</a:t>
            </a:r>
            <a:r>
              <a:rPr lang="en-IN" sz="2400" dirty="0"/>
              <a:t> make emails easy to read.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Different font sizes</a:t>
            </a:r>
            <a:r>
              <a:rPr lang="en-IN" sz="2400" dirty="0"/>
              <a:t> help highlight headings and important text.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Bold, Italic, and Underline</a:t>
            </a:r>
            <a:r>
              <a:rPr lang="en-IN" sz="2400" dirty="0"/>
              <a:t> are used to emphasize key information.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Consistent text style</a:t>
            </a:r>
            <a:r>
              <a:rPr lang="en-IN" sz="2400" dirty="0"/>
              <a:t> gives emails a neat and professional look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15146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CC2B356-4F2F-471D-31ED-D91D433FFE09}"/>
              </a:ext>
            </a:extLst>
          </p:cNvPr>
          <p:cNvSpPr txBox="1"/>
          <p:nvPr/>
        </p:nvSpPr>
        <p:spPr>
          <a:xfrm>
            <a:off x="2656936" y="129396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F4BA7ED-B58F-8E93-E7D9-89C6AF00A5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6330683"/>
              </p:ext>
            </p:extLst>
          </p:nvPr>
        </p:nvGraphicFramePr>
        <p:xfrm>
          <a:off x="856861" y="1198709"/>
          <a:ext cx="10478277" cy="54583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470987">
                  <a:extLst>
                    <a:ext uri="{9D8B030D-6E8A-4147-A177-3AD203B41FA5}">
                      <a16:colId xmlns:a16="http://schemas.microsoft.com/office/drawing/2014/main" val="3178463160"/>
                    </a:ext>
                  </a:extLst>
                </a:gridCol>
                <a:gridCol w="3514531">
                  <a:extLst>
                    <a:ext uri="{9D8B030D-6E8A-4147-A177-3AD203B41FA5}">
                      <a16:colId xmlns:a16="http://schemas.microsoft.com/office/drawing/2014/main" val="1029317320"/>
                    </a:ext>
                  </a:extLst>
                </a:gridCol>
                <a:gridCol w="3492759">
                  <a:extLst>
                    <a:ext uri="{9D8B030D-6E8A-4147-A177-3AD203B41FA5}">
                      <a16:colId xmlns:a16="http://schemas.microsoft.com/office/drawing/2014/main" val="2212895624"/>
                    </a:ext>
                  </a:extLst>
                </a:gridCol>
              </a:tblGrid>
              <a:tr h="6822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Feature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Gmail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Outlook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7692745"/>
                  </a:ext>
                </a:extLst>
              </a:tr>
              <a:tr h="6822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Color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Uses a simple white and red color theme.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Uses a clean blue and white </a:t>
                      </a:r>
                      <a:r>
                        <a:rPr lang="en-IN" dirty="0" err="1"/>
                        <a:t>color</a:t>
                      </a:r>
                      <a:r>
                        <a:rPr lang="en-IN" dirty="0"/>
                        <a:t> theme.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7136283"/>
                  </a:ext>
                </a:extLst>
              </a:tr>
              <a:tr h="6822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Buttons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Buttons are simple and easy to find.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Buttons are clear and provide more options.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7505864"/>
                  </a:ext>
                </a:extLst>
              </a:tr>
              <a:tr h="6822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Navigation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Easy to use with a simple side menu.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Well-organized with folders and menu options.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559710"/>
                  </a:ext>
                </a:extLst>
              </a:tr>
              <a:tr h="6822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Fonts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Uses clean and easy-to-read fonts.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Uses professional and readable fonts.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0822747"/>
                  </a:ext>
                </a:extLst>
              </a:tr>
              <a:tr h="6822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Layout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Simple and clean layout.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Structured layout with more features.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3409723"/>
                  </a:ext>
                </a:extLst>
              </a:tr>
              <a:tr h="6822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Icons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Uses simple and colorful icons.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Uses professional and clear icons.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7112116"/>
                  </a:ext>
                </a:extLst>
              </a:tr>
              <a:tr h="6822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Overall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Best for simple and quick email use.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Best for professional and business email use.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677936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6449A38-A45A-1893-59BD-DB9DF6EFD65F}"/>
              </a:ext>
            </a:extLst>
          </p:cNvPr>
          <p:cNvSpPr txBox="1"/>
          <p:nvPr/>
        </p:nvSpPr>
        <p:spPr>
          <a:xfrm>
            <a:off x="606491" y="369173"/>
            <a:ext cx="75671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i="1" u="sng" dirty="0">
                <a:solidFill>
                  <a:schemeClr val="bg1"/>
                </a:solidFill>
              </a:rPr>
              <a:t>COMPARISON OF GMAIL AND OUTLOOK  :</a:t>
            </a:r>
            <a:endParaRPr lang="en-IN" sz="3200" b="1" i="1" u="sng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6577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A493FCA-673F-4AEC-71E2-2B98C4F9B4C5}"/>
              </a:ext>
            </a:extLst>
          </p:cNvPr>
          <p:cNvSpPr txBox="1"/>
          <p:nvPr/>
        </p:nvSpPr>
        <p:spPr>
          <a:xfrm>
            <a:off x="1179961" y="1452461"/>
            <a:ext cx="10529486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b="1" i="1" u="sng" dirty="0">
                <a:solidFill>
                  <a:schemeClr val="bg1"/>
                </a:solidFill>
              </a:rPr>
              <a:t>Conclusion : </a:t>
            </a:r>
          </a:p>
          <a:p>
            <a:endParaRPr lang="en-IN" sz="28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 Outlook is a reliable tool for email, calendar, and task management.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  It improves communication, organization, and productivity.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  It is widely used by businesses, students, and professionals. 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202792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405</TotalTime>
  <Words>661</Words>
  <Application>Microsoft Office PowerPoint</Application>
  <PresentationFormat>Widescreen</PresentationFormat>
  <Paragraphs>96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Arial</vt:lpstr>
      <vt:lpstr>Tw Cen MT</vt:lpstr>
      <vt:lpstr>Wingdings</vt:lpstr>
      <vt:lpstr>Circuit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LOGO &amp; branding</vt:lpstr>
      <vt:lpstr>Outlook: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vimalaganesh26@outlook.com</dc:creator>
  <cp:lastModifiedBy>akshatha .R</cp:lastModifiedBy>
  <cp:revision>3</cp:revision>
  <dcterms:created xsi:type="dcterms:W3CDTF">2026-08-02T15:51:48Z</dcterms:created>
  <dcterms:modified xsi:type="dcterms:W3CDTF">2026-08-03T18:13:18Z</dcterms:modified>
</cp:coreProperties>
</file>